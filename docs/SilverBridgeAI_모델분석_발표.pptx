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SilverBridgeAI 모델 학습 기록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Fire vs Knife 객체감지 모델 성능 비교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1: 전체 학습 히스토리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300"/>
            </a:pPr>
            <a:r>
              <a:t>Fire 모델 진화</a:t>
            </a:r>
          </a:p>
          <a:p>
            <a:pPr>
              <a:defRPr sz="1300"/>
            </a:pPr>
            <a:r>
              <a:t>• 1차 (30 epochs, 400장): mAP50 0.531</a:t>
            </a:r>
          </a:p>
          <a:p>
            <a:pPr>
              <a:defRPr sz="1300"/>
            </a:pPr>
            <a:r>
              <a:t>• 2차 (100 epochs, 400장): mAP50 0.612 → 0.581 (Overfitting)</a:t>
            </a:r>
          </a:p>
          <a:p>
            <a:pPr lvl="1">
              <a:defRPr sz="1300"/>
            </a:pPr>
            <a:r>
              <a:t>Knife 모델 진화</a:t>
            </a:r>
          </a:p>
          <a:p>
            <a:pPr>
              <a:defRPr sz="1300"/>
            </a:pPr>
            <a:r>
              <a:t>• 1차 (30 epochs, 1,594장): mAP50 0.675</a:t>
            </a:r>
          </a:p>
          <a:p>
            <a:pPr>
              <a:defRPr sz="1300"/>
            </a:pPr>
            <a:r>
              <a:t>• 2차 (216 epochs, 1,594장): 0.729 → 0.589 (극심한 Overfitting)</a:t>
            </a:r>
          </a:p>
          <a:p>
            <a:pPr>
              <a:defRPr sz="1300"/>
            </a:pPr>
            <a:r>
              <a:t>• 3차 (200 epochs, 2,734장): mAP50 0.729</a:t>
            </a:r>
          </a:p>
          <a:p>
            <a:pPr>
              <a:defRPr sz="1300"/>
            </a:pPr>
            <a:r>
              <a:t>• 4차 (369 epochs, 2,734장): Overfitting 심화</a:t>
            </a:r>
          </a:p>
          <a:p>
            <a:pPr>
              <a:defRPr sz="1300"/>
            </a:pPr>
            <a:r>
              <a:t>• 5차 (250 epochs, 2,805장): mAP50 0.886 (최고 성능)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2: Fire 30 vs Fire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300"/>
            </a:pPr>
            <a:r>
              <a:t>동일 400장 데이터로 100 epoch 추가 학습</a:t>
            </a:r>
          </a:p>
          <a:p>
            <a:pPr lvl="1">
              <a:defRPr sz="1300"/>
            </a:pPr>
            <a:r>
              <a:t>주요 문제점:</a:t>
            </a:r>
          </a:p>
          <a:p>
            <a:pPr>
              <a:defRPr sz="1300"/>
            </a:pPr>
            <a:r>
              <a:t>• Data Bottleneck: 400장은 Fire 감지에 너무 적음 (최소 1,500장 필요)</a:t>
            </a:r>
          </a:p>
          <a:p>
            <a:pPr>
              <a:defRPr sz="1300"/>
            </a:pPr>
            <a:r>
              <a:t>• Overfitting: Epoch 59에서 최고 (0.612) → 100에서 하락 (0.581)</a:t>
            </a:r>
          </a:p>
          <a:p>
            <a:pPr>
              <a:defRPr sz="1300"/>
            </a:pPr>
            <a:r>
              <a:t>• 데이터 편향: 44% 어두운 환경, 1% 밝은 실내 환경</a:t>
            </a:r>
          </a:p>
          <a:p>
            <a:pPr>
              <a:defRPr sz="1300"/>
            </a:pPr>
            <a:r>
              <a:t>• Smoke 부족: 전체 데이터의 2%만 Smoke 클래스</a:t>
            </a:r>
          </a:p>
          <a:p>
            <a:pPr>
              <a:defRPr sz="1300"/>
            </a:pPr>
            <a:r>
              <a:t>• 빈 라벨: 342장 이미지에 bbox 없음 (가장 치명적)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3: Knife 30 vs Fire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300"/>
            </a:pPr>
            <a:r>
              <a:t>데이터 품질의 차이 분석</a:t>
            </a:r>
          </a:p>
          <a:p>
            <a:pPr lvl="1">
              <a:defRPr sz="1300"/>
            </a:pPr>
            <a:r>
              <a:t>비교 결과:</a:t>
            </a:r>
          </a:p>
          <a:p>
            <a:pPr>
              <a:defRPr sz="1300"/>
            </a:pPr>
            <a:r>
              <a:t>• 데이터 크기: Fire 400장 vs Knife 1,594장 (4배 차이)</a:t>
            </a:r>
          </a:p>
          <a:p>
            <a:pPr>
              <a:defRPr sz="1300"/>
            </a:pPr>
            <a:r>
              <a:t>• mAP50: Fire 0.531 vs Knife 0.675 (+27%)</a:t>
            </a:r>
          </a:p>
          <a:p>
            <a:pPr>
              <a:defRPr sz="1300"/>
            </a:pPr>
            <a:r>
              <a:t>• Epoch 10 성능: Fire 0.149 vs Knife 0.416 (2.8배 차이)</a:t>
            </a:r>
          </a:p>
          <a:p>
            <a:pPr>
              <a:defRPr sz="1300"/>
            </a:pPr>
            <a:r>
              <a:t>• 학습 안정성: Fire 불안정 vs Knife 안정적</a:t>
            </a:r>
          </a:p>
          <a:p>
            <a:pPr lvl="1">
              <a:defRPr sz="1300"/>
            </a:pPr>
            <a:r>
              <a:t>핵심 발견:</a:t>
            </a:r>
          </a:p>
          <a:p>
            <a:pPr lvl="1">
              <a:defRPr sz="1300"/>
            </a:pPr>
            <a:r>
              <a:t>"데이터 크기와 품질이 성능의 절대적 결정 요소"</a:t>
            </a:r>
          </a:p>
          <a:p>
            <a:pPr lvl="1">
              <a:defRPr sz="1300"/>
            </a:pPr>
            <a:r>
              <a:t>Knife의 Roboflow 원본 데이터가 훨씬 우수함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4: Knife 진화 과정 - 데이터 확충의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200"/>
            </a:pPr>
            <a:r>
              <a:t>Phase 1: 초기 학습 (1,594장)</a:t>
            </a:r>
          </a:p>
          <a:p>
            <a:pPr>
              <a:defRPr sz="1200"/>
            </a:pPr>
            <a:r>
              <a:t>• Knife 30: mAP50 0.675 (안정적)</a:t>
            </a:r>
          </a:p>
          <a:p>
            <a:pPr>
              <a:defRPr sz="1200"/>
            </a:pPr>
            <a:r>
              <a:t>• Knife 216: Best 0.729 (Epoch 103) → 최종 0.589 (폭락, -19.2%)</a:t>
            </a:r>
          </a:p>
          <a:p>
            <a:pPr>
              <a:defRPr sz="1200"/>
            </a:pPr>
            <a:r>
              <a:t>• 교훈: Early Stopping 필요</a:t>
            </a:r>
          </a:p>
          <a:p>
            <a:pPr lvl="1">
              <a:defRPr sz="1200"/>
            </a:pPr>
            <a:r>
              <a:t>Phase 2: 데이터 확충 (2,734장, +1,140장)</a:t>
            </a:r>
          </a:p>
          <a:p>
            <a:pPr>
              <a:defRPr sz="1200"/>
            </a:pPr>
            <a:r>
              <a:t>• Knife 200: mAP50 0.729 (+8.0%)</a:t>
            </a:r>
          </a:p>
          <a:p>
            <a:pPr>
              <a:defRPr sz="1200"/>
            </a:pPr>
            <a:r>
              <a:t>• Knife 369: 과도한 학습 → 성능 저하</a:t>
            </a:r>
          </a:p>
          <a:p>
            <a:pPr lvl="1">
              <a:defRPr sz="1200"/>
            </a:pPr>
            <a:r>
              <a:t>Phase 3: 최적화 (2,805장, +71장 + Early Stopping)</a:t>
            </a:r>
          </a:p>
          <a:p>
            <a:pPr>
              <a:defRPr sz="1200"/>
            </a:pPr>
            <a:r>
              <a:t>• Knife 250: mAP50 0.886 (최고 성능)</a:t>
            </a:r>
          </a:p>
          <a:p>
            <a:pPr>
              <a:defRPr sz="1200"/>
            </a:pPr>
            <a:r>
              <a:t>• Early Stopping (patience=100) 성공</a:t>
            </a:r>
          </a:p>
          <a:p>
            <a:pPr>
              <a:defRPr sz="1200"/>
            </a:pPr>
            <a:r>
              <a:t>• Precision 0.805, Recall 0.889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5: 성능 비교 종합표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200"/>
            </a:pPr>
            <a:r>
              <a:t>모든 7개 모델의 최종 성능</a:t>
            </a:r>
          </a:p>
          <a:p>
            <a:pPr lvl="1">
              <a:defRPr sz="1200"/>
            </a:pPr>
            <a:r>
              <a:t>순위 (최종 mAP50):</a:t>
            </a:r>
          </a:p>
          <a:p>
            <a:pPr lvl="1">
              <a:defRPr sz="1200"/>
            </a:pPr>
            <a:r>
              <a:t>1. Knife 250: 0.886 ✅ 최고 성능</a:t>
            </a:r>
          </a:p>
          <a:p>
            <a:pPr lvl="1">
              <a:defRPr sz="1200"/>
            </a:pPr>
            <a:r>
              <a:t>2. Knife 200: 0.729</a:t>
            </a:r>
          </a:p>
          <a:p>
            <a:pPr lvl="1">
              <a:defRPr sz="1200"/>
            </a:pPr>
            <a:r>
              <a:t>3. Knife 216 Best: 0.729 → 최종 0.589 (폭락)</a:t>
            </a:r>
          </a:p>
          <a:p>
            <a:pPr lvl="1">
              <a:defRPr sz="1200"/>
            </a:pPr>
            <a:r>
              <a:t>4. Knife 30: 0.675</a:t>
            </a:r>
          </a:p>
          <a:p>
            <a:pPr lvl="1">
              <a:defRPr sz="1200"/>
            </a:pPr>
            <a:r>
              <a:t>5. Fire 100 Best: 0.612 → 최종 0.581</a:t>
            </a:r>
          </a:p>
          <a:p>
            <a:pPr lvl="1">
              <a:defRPr sz="1200"/>
            </a:pPr>
            <a:r>
              <a:t>6. Fire 30: 0.531</a:t>
            </a:r>
          </a:p>
          <a:p>
            <a:pPr lvl="1">
              <a:defRPr sz="1200"/>
            </a:pPr>
            <a:r>
              <a:t>데이터 크기별 mAP50:</a:t>
            </a:r>
          </a:p>
          <a:p>
            <a:pPr>
              <a:defRPr sz="1200"/>
            </a:pPr>
            <a:r>
              <a:t>• 400장: 0.612 (한계)</a:t>
            </a:r>
          </a:p>
          <a:p>
            <a:pPr>
              <a:defRPr sz="1200"/>
            </a:pPr>
            <a:r>
              <a:t>• 1,594장: 0.675</a:t>
            </a:r>
          </a:p>
          <a:p>
            <a:pPr>
              <a:defRPr sz="1200"/>
            </a:pPr>
            <a:r>
              <a:t>• 2,734장: 0.729</a:t>
            </a:r>
          </a:p>
          <a:p>
            <a:pPr>
              <a:defRPr sz="1200"/>
            </a:pPr>
            <a:r>
              <a:t>• 2,805장: 0.886 (최고)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6: 오감지 &amp; 미감지 분석 (Fire)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100"/>
            </a:pPr>
            <a:r>
              <a:t>Fire 모델의 오감지 원인 (False Positive):</a:t>
            </a:r>
          </a:p>
          <a:p>
            <a:pPr lvl="1">
              <a:defRPr sz="1100"/>
            </a:pPr>
            <a:r>
              <a:t>1. 밝은 햇빛 (창문 노란빛) → 원본 밝은 실내 1%만</a:t>
            </a:r>
          </a:p>
          <a:p>
            <a:pPr lvl="1">
              <a:defRPr sz="1100"/>
            </a:pPr>
            <a:r>
              <a:t>2. 조명 및 전등갓 → 가정 환경 Hard Negative 부족</a:t>
            </a:r>
          </a:p>
          <a:p>
            <a:pPr lvl="1">
              <a:defRPr sz="1100"/>
            </a:pPr>
            <a:r>
              <a:t>3. 전기레인지 인디케이터 (빨간 불빛)</a:t>
            </a:r>
          </a:p>
          <a:p>
            <a:pPr lvl="1">
              <a:defRPr sz="1100"/>
            </a:pPr>
            <a:r>
              <a:t>4. 전기히터 코일 (주황색 빛)</a:t>
            </a:r>
          </a:p>
          <a:p>
            <a:pPr lvl="1">
              <a:defRPr sz="1100"/>
            </a:pPr>
            <a:r>
              <a:t>Fire 모델의 미감지 원인 (False Negative):</a:t>
            </a:r>
          </a:p>
          <a:p>
            <a:pPr lvl="1">
              <a:defRPr sz="1100"/>
            </a:pPr>
            <a:r>
              <a:t>1. 작은 불꽃 (초기 화재) → 빈 라벨 342장 영향</a:t>
            </a:r>
          </a:p>
          <a:p>
            <a:pPr lvl="1">
              <a:defRPr sz="1100"/>
            </a:pPr>
            <a:r>
              <a:t>2. 연기만 보이는 경우 → Smoke 클래스 2% 부족</a:t>
            </a:r>
          </a:p>
          <a:p>
            <a:pPr lvl="1">
              <a:defRPr sz="1100"/>
            </a:pPr>
            <a:r>
              <a:t>3. 복잡한 배경의 불 → 400장 일반화 불가능</a:t>
            </a:r>
          </a:p>
          <a:p>
            <a:pPr lvl="1">
              <a:defRPr sz="1100"/>
            </a:pPr>
            <a:r>
              <a:t>근본 원인: 빈 라벨 342장 (가장 치명적)</a:t>
            </a:r>
          </a:p>
          <a:p>
            <a:pPr>
              <a:defRPr sz="1100"/>
            </a:pPr>
            <a:r>
              <a:t>→ mAP50을 0.612에서 0.395로 폭락시킨 주범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7: 데이터 크기의 영향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100"/>
            </a:pPr>
            <a:r>
              <a:t>핵심 발견:</a:t>
            </a:r>
          </a:p>
          <a:p>
            <a:pPr lvl="1">
              <a:defRPr sz="1100"/>
            </a:pPr>
            <a:r>
              <a:t>1. 최소 데이터 요구량</a:t>
            </a:r>
          </a:p>
          <a:p>
            <a:pPr lvl="1">
              <a:defRPr sz="1100"/>
            </a:pPr>
            <a:r>
              <a:t>• Fire 400장 → mAP50 0.612 (한계)</a:t>
            </a:r>
          </a:p>
          <a:p>
            <a:pPr lvl="1">
              <a:defRPr sz="1100"/>
            </a:pPr>
            <a:r>
              <a:t>• Knife 1,594장 → mAP50 0.675 (안정적)</a:t>
            </a:r>
          </a:p>
          <a:p>
            <a:pPr lvl="1">
              <a:defRPr sz="1100"/>
            </a:pPr>
            <a:r>
              <a:t>• 필요 최소: 1,500장</a:t>
            </a:r>
          </a:p>
          <a:p>
            <a:pPr lvl="1">
              <a:defRPr sz="1100"/>
            </a:pPr>
            <a:r>
              <a:t>2. 데이터와 Epoch의 관계</a:t>
            </a:r>
          </a:p>
          <a:p>
            <a:pPr lvl="1">
              <a:defRPr sz="1100"/>
            </a:pPr>
            <a:r>
              <a:t>• optimal_epoch ≈ data_size / 10 (근사값)</a:t>
            </a:r>
          </a:p>
          <a:p>
            <a:pPr lvl="1">
              <a:defRPr sz="1100"/>
            </a:pPr>
            <a:r>
              <a:t>• 400장: 30~40 epoch에서 종료 적절</a:t>
            </a:r>
          </a:p>
          <a:p>
            <a:pPr lvl="1">
              <a:defRPr sz="1100"/>
            </a:pPr>
            <a:r>
              <a:t>• 2,805장: 250 epoch에서도 제어 가능 (Early Stopping)</a:t>
            </a:r>
          </a:p>
          <a:p>
            <a:pPr lvl="1">
              <a:defRPr sz="1100"/>
            </a:pPr>
            <a:r>
              <a:t>3. 성능 향상율</a:t>
            </a:r>
          </a:p>
          <a:p>
            <a:pPr lvl="1">
              <a:defRPr sz="1100"/>
            </a:pPr>
            <a:r>
              <a:t>• 400 → 1,594 (3.98배 데이터) → +27% 성능</a:t>
            </a:r>
          </a:p>
          <a:p>
            <a:pPr lvl="1">
              <a:defRPr sz="1100"/>
            </a:pPr>
            <a:r>
              <a:t>• 1,594 → 2,734 (1.71배 데이터) → +8.0% 성능</a:t>
            </a:r>
          </a:p>
          <a:p>
            <a:pPr lvl="1">
              <a:defRPr sz="1100"/>
            </a:pPr>
            <a:r>
              <a:t>• 2,734 → 2,805 (1.03배 데이터) → +21.2% 성능 (Early Stopping)</a:t>
            </a:r>
          </a:p>
          <a:p>
            <a:pPr>
              <a:defRPr sz="1100"/>
            </a:pPr>
            <a:r>
              <a:t>결론: 데이터 증가 + 품질 + Early Stopping 병행 필수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8: 최종 결론 &amp;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100"/>
            </a:pPr>
            <a:r>
              <a:t>현재 모델 상태 평가:</a:t>
            </a:r>
          </a:p>
          <a:p>
            <a:pPr>
              <a:defRPr sz="1100"/>
            </a:pPr>
            <a:r>
              <a:t>✅ Knife 모델 - 배포 준비 완료</a:t>
            </a:r>
          </a:p>
          <a:p>
            <a:pPr>
              <a:defRPr sz="1100"/>
            </a:pPr>
            <a:r>
              <a:t>• 최종 성능: mAP50 0.886~0.909</a:t>
            </a:r>
          </a:p>
          <a:p>
            <a:pPr>
              <a:defRPr sz="1100"/>
            </a:pPr>
            <a:r>
              <a:t>• Precision: 0.805, Recall: 0.889</a:t>
            </a:r>
          </a:p>
          <a:p>
            <a:pPr>
              <a:defRPr sz="1100"/>
            </a:pPr>
            <a:r>
              <a:t>• 즉시 배포 가능</a:t>
            </a:r>
          </a:p>
          <a:p>
            <a:pPr lvl="1">
              <a:defRPr sz="1100"/>
            </a:pPr>
            <a:r>
              <a:t>⚠️ Fire 모델 - 개선 진행 중</a:t>
            </a:r>
          </a:p>
          <a:p>
            <a:pPr>
              <a:defRPr sz="1100"/>
            </a:pPr>
            <a:r>
              <a:t>• 현재: mAP50 0.612 (한계)</a:t>
            </a:r>
          </a:p>
          <a:p>
            <a:pPr>
              <a:defRPr sz="1100"/>
            </a:pPr>
            <a:r>
              <a:t>• 개선 완료: 데이터 확충, Hard Negative, 빈 라벨 제거</a:t>
            </a:r>
          </a:p>
          <a:p>
            <a:pPr>
              <a:defRPr sz="1100"/>
            </a:pPr>
            <a:r>
              <a:t>• Fire 250 epoch 학습 진행 중</a:t>
            </a:r>
          </a:p>
          <a:p>
            <a:pPr>
              <a:defRPr sz="1100"/>
            </a:pPr>
            <a:r>
              <a:t>• 목표: mAP50 0.70~0.75</a:t>
            </a:r>
          </a:p>
          <a:p>
            <a:pPr lvl="1">
              <a:defRPr sz="1100"/>
            </a:pPr>
            <a:r>
              <a:t>배포 전 점검표:</a:t>
            </a:r>
          </a:p>
          <a:p>
            <a:pPr>
              <a:defRPr sz="1100"/>
            </a:pPr>
            <a:r>
              <a:t>• Knife: ✅ mAP50 0.886+ 달성</a:t>
            </a:r>
          </a:p>
          <a:p>
            <a:pPr>
              <a:defRPr sz="1100"/>
            </a:pPr>
            <a:r>
              <a:t>• Fire: ⏳ 250 epoch 학습 진행 중</a:t>
            </a:r>
          </a:p>
          <a:p>
            <a:pPr>
              <a:defRPr sz="1100"/>
            </a:pPr>
            <a:r>
              <a:t>• 실시간 테스트: ⏳ 웹캠/DroidCam 10시간 이상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 9: 핵심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200"/>
            </a:pPr>
            <a:r>
              <a:t>"데이터 크기와 품질, 그리고 Early Stopping이 최고 성능의 열쇠"</a:t>
            </a:r>
          </a:p>
          <a:p>
            <a:pPr lvl="1">
              <a:defRPr sz="1200"/>
            </a:pPr>
            <a:r>
              <a:t>학습 과정 분석:</a:t>
            </a:r>
          </a:p>
          <a:p>
            <a:pPr lvl="1">
              <a:defRPr sz="1200"/>
            </a:pPr>
            <a:r>
              <a:t>1. Fire 400장 → 한계 도달 (0.612)</a:t>
            </a:r>
          </a:p>
          <a:p>
            <a:pPr lvl="1">
              <a:defRPr sz="1200"/>
            </a:pPr>
            <a:r>
              <a:t>원인: 데이터 부족 + 환경 편향 + Smoke 부족</a:t>
            </a:r>
          </a:p>
          <a:p>
            <a:pPr lvl="1">
              <a:defRPr sz="1200"/>
            </a:pPr>
            <a:r>
              <a:t>2. Knife 1,594장 → 안정적 성능 (0.675)</a:t>
            </a:r>
          </a:p>
          <a:p>
            <a:pPr lvl="1">
              <a:defRPr sz="1200"/>
            </a:pPr>
            <a:r>
              <a:t>원인: 데이터 품질 우수 + Roboflow 원본</a:t>
            </a:r>
          </a:p>
          <a:p>
            <a:pPr lvl="1">
              <a:defRPr sz="1200"/>
            </a:pPr>
            <a:r>
              <a:t>3. Knife 2,805장 + Early Stopping → 최고 성능 (0.886)</a:t>
            </a:r>
          </a:p>
          <a:p>
            <a:pPr lvl="1">
              <a:defRPr sz="1200"/>
            </a:pPr>
            <a:r>
              <a:t>성공 요소: 데이터 확충 + Early Stopping 적용</a:t>
            </a:r>
          </a:p>
          <a:p>
            <a:pPr lvl="1">
              <a:defRPr sz="1200"/>
            </a:pPr>
            <a:r>
              <a:t>독거노인 안전 우선 원칙:</a:t>
            </a:r>
          </a:p>
          <a:p>
            <a:pPr>
              <a:defRPr sz="1200"/>
            </a:pPr>
            <a:r>
              <a:t>미감지(Recall) &gt; 오감지(Precision)</a:t>
            </a:r>
          </a:p>
          <a:p>
            <a:pPr>
              <a:defRPr sz="1200"/>
            </a:pPr>
            <a:r>
              <a:t>• Knife: Recall 89% 달성 ✅</a:t>
            </a:r>
          </a:p>
          <a:p>
            <a:pPr>
              <a:defRPr sz="1200"/>
            </a:pPr>
            <a:r>
              <a:t>• Fire: Recall 85% 이상 목표로 진행 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